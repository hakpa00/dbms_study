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548640"/>
            <a:ext cx="3657600" cy="365760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2D8B8B">
              <a:alpha val="22000"/>
            </a:srgbClr>
          </a:solidFill>
          <a:ln w="12700">
            <a:solidFill>
              <a:srgbClr val="2D8B8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194560" cy="32004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10일 완성 과정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4864" cy="1645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2316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서브쿼리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쿼리 안의 쿼리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777240" y="3840480"/>
            <a:ext cx="6858000" cy="502920"/>
          </a:xfrm>
          <a:prstGeom prst="rect">
            <a:avLst/>
          </a:prstGeom>
          <a:solidFill>
            <a:srgbClr val="182236"/>
          </a:solidFill>
          <a:ln w="12700">
            <a:solidFill>
              <a:srgbClr val="1822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404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  "평균보다 비싼 메뉴만 보려면 평균을 먼저 구해야 하는데..."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709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한국IT교육센터 부산점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배울 것들 — 서브쿼리 4종 + UNION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987552"/>
            <a:ext cx="420624" cy="420624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87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9235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서브쿼리 개념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21615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쿼리 안의 쿼리 — 괄호로 감싸기 / 3가지 위치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412480" y="868680"/>
            <a:ext cx="365760" cy="658368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64208"/>
            <a:ext cx="8412480" cy="658368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1783080"/>
            <a:ext cx="420624" cy="42062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783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17190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WHERE절 서브쿼리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011680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단일행(= · &gt; · &lt;)  ·  다중행(IN · ANY · ALL)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412480" y="1664208"/>
            <a:ext cx="36576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45973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578608"/>
            <a:ext cx="420624" cy="420624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786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2514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FROM절 서브쿼리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2807208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인라인 뷰 — 1차 집계 → 2차 분석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0" y="2459736"/>
            <a:ext cx="365760" cy="65836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255264"/>
            <a:ext cx="8412480" cy="658368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374136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3741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33101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SELECT절 스칼라 서브쿼리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602736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행 옆에 전체 평균·합계 표시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12480" y="3255264"/>
            <a:ext cx="365760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05079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" y="4169664"/>
            <a:ext cx="420624" cy="420624"/>
          </a:xfrm>
          <a:prstGeom prst="ellipse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1696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97280" y="41056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EXISTS · UNION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97280" y="4398264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EXISTS vs LEFT JOIN IS NULL  ·  UNION vs UNION ALL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412480" y="4050792"/>
            <a:ext cx="365760" cy="658368"/>
          </a:xfrm>
          <a:prstGeom prst="rect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6 복습 퀴즈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4114800"/>
          </a:xfrm>
          <a:prstGeom prst="rect">
            <a:avLst/>
          </a:prstGeom>
          <a:solidFill>
            <a:srgbClr val="FAFBFD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⏱  10분  |  Day 6 JOIN 점검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2801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Q1.  INNER JOIN 과 LEFT JOIN 의 결과 차이는?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65392" y="1298448"/>
            <a:ext cx="1938528" cy="274320"/>
          </a:xfrm>
          <a:prstGeom prst="rect">
            <a:avLst/>
          </a:prstGeom>
          <a:solidFill>
            <a:srgbClr val="EB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1298448"/>
            <a:ext cx="1938528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INNER=양쪽 매칭만, LEFT=왼쪽 모두 포함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4360" y="193852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Q2.  주문 0건 고객을 찾는 LEFT JOIN + IS NULL 패턴을 쓰세요.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65392" y="1956816"/>
            <a:ext cx="1938528" cy="274320"/>
          </a:xfrm>
          <a:prstGeom prst="rect">
            <a:avLst/>
          </a:prstGeom>
          <a:solidFill>
            <a:srgbClr val="EB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1956816"/>
            <a:ext cx="1938528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LEFT JOIN orders ON c.id=o.customer_id WHERE o.id IS NULL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94360" y="2596896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Q3.  LEFT JOIN 후 COUNT(*) 와 COUNT(o.id) 의 차이는?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65392" y="2615184"/>
            <a:ext cx="1938528" cy="274320"/>
          </a:xfrm>
          <a:prstGeom prst="rect">
            <a:avLst/>
          </a:prstGeom>
          <a:solidFill>
            <a:srgbClr val="EB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2615184"/>
            <a:ext cx="1938528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COUNT(o.id)는 NULL을 카운트하지 않음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94360" y="3255264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Q4.  가게 이름별 총 매출을 구할 때 필요한 조합은?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65392" y="3273552"/>
            <a:ext cx="1938528" cy="274320"/>
          </a:xfrm>
          <a:prstGeom prst="rect">
            <a:avLst/>
          </a:prstGeom>
          <a:solidFill>
            <a:srgbClr val="EB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3273552"/>
            <a:ext cx="1938528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JOIN restaurants + GROUP BY r.id, r.name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4360" y="391363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Q5.  ON 조건 없이 JOIN 하면 어떻게 되나요?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65392" y="3931920"/>
            <a:ext cx="1938528" cy="274320"/>
          </a:xfrm>
          <a:prstGeom prst="rect">
            <a:avLst/>
          </a:prstGeom>
          <a:solidFill>
            <a:srgbClr val="EB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65392" y="3931920"/>
            <a:ext cx="1938528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CROSS JOIN — 모든 조합 생성 (행 수 폭발)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서브쿼리 개념 — 쿼리 안의 쿼리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621792"/>
          </a:xfrm>
          <a:prstGeom prst="rect">
            <a:avLst/>
          </a:prstGeom>
          <a:solidFill>
            <a:srgbClr val="EBF8FF"/>
          </a:solidFill>
          <a:ln w="12700">
            <a:solidFill>
              <a:srgbClr val="2D8B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22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🤔  비유: 시험 평균 이상인 학생을 찾으려면?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0789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평균을 먼저 구한다  →  ② 그 평균으로 필터한다  →  이 2단계를 1번에 = 서브쿼리!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536192"/>
            <a:ext cx="4160520" cy="19202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627632"/>
            <a:ext cx="3886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-- 2단계로 따로 실행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Step 1: 평균 구하기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AVG(price) FROM menus;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결과: 12500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Step 2: 그 값으로 필터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menu_name, price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menus WHERE price &gt; 12500;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536192"/>
            <a:ext cx="4069080" cy="19202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627632"/>
            <a:ext cx="3794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서브쿼리로 한 번에!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menu_name, price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menus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price &gt;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AVG(price) FROM menus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(SELECT …) 이 서브쿼리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바깥 SELECT = 메인 쿼리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35478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📍  서브쿼리가 올 수 있는 3가지 위치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858768"/>
            <a:ext cx="272491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858768"/>
            <a:ext cx="2724912" cy="329184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858768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" y="4224528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대상을 동적으로 계산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64408" y="3858768"/>
            <a:ext cx="272491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64408" y="3858768"/>
            <a:ext cx="2724912" cy="32918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64408" y="3858768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FROM절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37560" y="4224528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집계 결과를 다시 테이블처럼 (인라인 뷰)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63056" y="3858768"/>
            <a:ext cx="272491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3056" y="3858768"/>
            <a:ext cx="2724912" cy="3291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3858768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SELECT절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36208" y="4224528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행 옆에 집계값 표시 (스칼라)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WHERE절 서브쿼리 — 단일행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2779776" cy="25603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04672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단일행: = · &gt; · &lt; · &gt;= · &lt;=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133856"/>
            <a:ext cx="8412480" cy="512064"/>
          </a:xfrm>
          <a:prstGeom prst="rect">
            <a:avLst/>
          </a:prstGeom>
          <a:solidFill>
            <a:srgbClr val="EBF4F4"/>
          </a:solidFill>
          <a:ln w="12700">
            <a:solidFill>
              <a:srgbClr val="2D8B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161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서브쿼리가 결과를 정확히 1행 1열 반환할 때 사용  |  2행 이상이면 ERROR 1242!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1417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(SELECT AVG(price) FROM menus) → 단일 숫자 → = · &gt; · &lt; 와 함께 사용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719072"/>
            <a:ext cx="4160520" cy="1705356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1810512"/>
            <a:ext cx="3886200" cy="15224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① 가격이 전체 평균 이상인 메뉴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menu_name, price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menus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price &gt;=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AVG(price) FROM menus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price DESC;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719072"/>
            <a:ext cx="4069080" cy="1490472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810512"/>
            <a:ext cx="379476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② 가장 비싼 메뉴와 동일 가격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menu_name, price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menus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price =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MAX(price) FROM menus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607308"/>
            <a:ext cx="8412480" cy="347472"/>
          </a:xfrm>
          <a:prstGeom prst="rect">
            <a:avLst/>
          </a:prstGeom>
          <a:solidFill>
            <a:srgbClr val="FFF3C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073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 0행 반환 → NULL  |  2행 이상 반환 → ERROR 1242  |  NULL과의 비교는 항상 FALSE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WHERE절 서브쿼리 — 다중행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32004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04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다중행: IN · NOT IN · ANY · ALL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416052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115568"/>
            <a:ext cx="4160520" cy="329184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1556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  — 목록 중 하나와 일치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1444752"/>
            <a:ext cx="4160520" cy="1705356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1536192"/>
            <a:ext cx="3886200" cy="15224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치킨 가게의 모든 메뉴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menu_name, price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menus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restaurant_id IN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id FROM restaurants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category = '치킨'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" y="2980944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서브쿼리 결과 목록 중 하나와 일치하면 포함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115568"/>
            <a:ext cx="406908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115568"/>
            <a:ext cx="4069080" cy="329184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115568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 IN  — 목록에 없는 것만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1444752"/>
            <a:ext cx="4069080" cy="1705356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1536192"/>
            <a:ext cx="3794760" cy="15224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주문받지 않은 메뉴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menu_name, price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menus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NOT IN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DISTINCT menu_id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orders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18888" y="2980944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 서브쿼리에 NULL이 있으면 NOT IN 전체 결과 = 0행!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236976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236976"/>
            <a:ext cx="4160520" cy="32918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36976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ANY  — 하나라도 만족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3566160"/>
            <a:ext cx="4160520" cy="1490472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3657600"/>
            <a:ext cx="388620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가장 낮은 MAX보다 높으면 포함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menu_name, price FROM menus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price &gt; ANY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MAX(price) FROM menus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restaurant_id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236976"/>
            <a:ext cx="40690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236976"/>
            <a:ext cx="4069080" cy="3291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236976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ALL  — 모두 만족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09160" y="3566160"/>
            <a:ext cx="4069080" cy="1490472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3657600"/>
            <a:ext cx="379476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모든 가게 최고가보다도 비싼 메뉴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menu_name, price FROM menus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price &gt; ALL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MAX(price) FROM menus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restaurant_id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FROM절 서브쿼리 — 인라인 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530352"/>
          </a:xfrm>
          <a:prstGeom prst="rect">
            <a:avLst/>
          </a:prstGeom>
          <a:solidFill>
            <a:srgbClr val="EBF8FF"/>
          </a:solidFill>
          <a:ln w="12700">
            <a:solidFill>
              <a:srgbClr val="2D8B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32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 1차 집계 → 집계 결과를 다시 테이블처럼 분석  |  FROM (서브쿼리) AS 별칭  ← 별칭 필수!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08813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비유: '반별 평균 표' 를 만들고 → 그 표에서 '50점 이상 반만' 필터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426464"/>
            <a:ext cx="2148840" cy="25603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26464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예제 1: 주문 5건 이상 가게만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719072"/>
            <a:ext cx="8412480" cy="2564892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1810512"/>
            <a:ext cx="8138160" cy="2382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-- 1단계: 가게별 주문수 + 매출 집계 (인라인 뷰)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restaurant_id,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COUNT(*)         AS 주문수,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SUM(total_price) AS 총매출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orders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GROUP BY restaurant_id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가게별집계          -- AS 별칭 필수!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주문수 &gt;= 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총매출 DESC;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4187952"/>
            <a:ext cx="8412480" cy="621792"/>
          </a:xfrm>
          <a:prstGeom prst="rect">
            <a:avLst/>
          </a:prstGeom>
          <a:solidFill>
            <a:srgbClr val="FFF3C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206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 AS 별칭 필수: FROM (...) AS 이름  ← 별칭 없으면 ERROR 1248!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446227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활용: 가게별 매출 집계 → 그 중 상위만  |  카테고리별 집계 → 2개 이상만  |  월별 통계 → 특정 월만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SELECT절 서브쿼리 — 스칼라 서브쿼리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475488"/>
          </a:xfrm>
          <a:prstGeom prst="rect">
            <a:avLst/>
          </a:prstGeom>
          <a:solidFill>
            <a:srgbClr val="EBF4F4"/>
          </a:solidFill>
          <a:ln w="12700">
            <a:solidFill>
              <a:srgbClr val="2D8B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22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행 옆에 전체 집계값 표시  |  반드시 1행 1열 반환  |  각 행마다 실행 → 행이 많으면 느려짐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07899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(SELECT 집계함수 FROM 테이블)  ← 괄호 안이 스칼라 서브쿼리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2253996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71600"/>
            <a:ext cx="22539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예제: 메뉴 가격과 전체 평균 비교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664208"/>
            <a:ext cx="8412480" cy="2779776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1755648"/>
            <a:ext cx="8138160" cy="2596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menu_name,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(SELECT ROUND(AVG(price)) FROM menus) AS 전체평균,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 - (SELECT ROUND(AVG(price)) FROM menus) AS 평균과의차이,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WHEN price &gt; (SELECT AVG(price) FROM menus)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THEN '★ 평균 이상'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'평균 미만'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 AS 등급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menus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price DESC;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4517136"/>
            <a:ext cx="2359152" cy="25603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517136"/>
            <a:ext cx="2359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예제 2: 각 주문의 전체 대비 비중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EXISTS / NOT EXISTS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530352"/>
          </a:xfrm>
          <a:prstGeom prst="rect">
            <a:avLst/>
          </a:prstGeom>
          <a:solidFill>
            <a:srgbClr val="EBF8FF"/>
          </a:solidFill>
          <a:ln w="12700">
            <a:solidFill>
              <a:srgbClr val="2D8B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32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EXISTS: 서브쿼리 결과가 1행 이상이면 TRUE  |  NOT EXISTS: 0행이면 TRUE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08813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SELECT 1 — 실제 값 아닌 존재 여부만 확인 → 빠름  |  메인 쿼리의 각 행마다 서브쿼리 실행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444752"/>
            <a:ext cx="4160520" cy="1705356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536192"/>
            <a:ext cx="3886200" cy="15224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주문이 있는 가게만 (EXISTS)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category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restaurants 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EXISTS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1 FROM orders 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o.restaurant_id = r.id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444752"/>
            <a:ext cx="4069080" cy="1705356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536192"/>
            <a:ext cx="3794760" cy="15224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주문이 없는 가게 (NOT EXISTS)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category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restaurants 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NOT EXISTS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1 FROM orders 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o.restaurant_id = r.id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259836"/>
            <a:ext cx="841248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5983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EXISTS vs LEFT JOIN IS NULL — 같은 결과, 다른 방법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589020"/>
            <a:ext cx="8412480" cy="347472"/>
          </a:xfrm>
          <a:prstGeom prst="rect">
            <a:avLst/>
          </a:prstGeom>
          <a:solidFill>
            <a:srgbClr val="E8EE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5890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방법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01952" y="35890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28032" y="35890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08192" y="358902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상황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936492"/>
            <a:ext cx="8412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9364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01952" y="39364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EXISTS (SELECT 1 …)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28032" y="393649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7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빠름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08192" y="3936492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존재 여부만 확인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283964"/>
            <a:ext cx="8412480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428396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IS NULL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01952" y="428396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… WHERE … IS NULL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28032" y="428396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비슷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08192" y="4283964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컬럼도 같이 조회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631436"/>
            <a:ext cx="8412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463143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IN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901952" y="463143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IN (SELECT …)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28032" y="463143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느림·NULL 위험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08192" y="4631436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목록이 소규모일 때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UNION / UNION ALL — 결과 합치기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4160520" cy="621792"/>
          </a:xfrm>
          <a:prstGeom prst="rect">
            <a:avLst/>
          </a:prstGeom>
          <a:solidFill>
            <a:srgbClr val="EBF4F4"/>
          </a:solidFill>
          <a:ln w="12700">
            <a:solidFill>
              <a:srgbClr val="2D8B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04672"/>
            <a:ext cx="4160520" cy="329184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0467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13385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 제거 (DISTINCT 자동 적용)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069080" cy="621792"/>
          </a:xfrm>
          <a:prstGeom prst="rect">
            <a:avLst/>
          </a:prstGeom>
          <a:solidFill>
            <a:srgbClr val="FFF8F0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04672"/>
            <a:ext cx="4069080" cy="3291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804672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UNION ALL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13385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 포함 (빠름 — 정렬 생략)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536192"/>
            <a:ext cx="4160520" cy="2135124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1627632"/>
            <a:ext cx="3886200" cy="19522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한식 + 치킨 가게 목록 합치기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category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restaurants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category = '한식'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category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restaurants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category = '치킨';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중복 자동 제거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1536192"/>
            <a:ext cx="4069080" cy="19202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627632"/>
            <a:ext cx="3794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고가(20000↑) + 저가(5000↓) 메뉴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menu_name, price, '고가' AS 구분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menus WHERE price &gt;= 20000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 ALL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menu_name, price, '저가' AS 구분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menus WHERE price &lt;= 5000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price DESC;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중복 제거 없이 전부 포함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566160"/>
            <a:ext cx="8412480" cy="1243584"/>
          </a:xfrm>
          <a:prstGeom prst="rect">
            <a:avLst/>
          </a:prstGeom>
          <a:solidFill>
            <a:srgbClr val="FFF3CD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60273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 UNION 사용 규칙 (틀리면 에러!)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" y="387705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두 쿼리의 컬럼 수가 같아야 함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" y="409651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각 컬럼의 타입이 호환되어야 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" y="43159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ORDER BY는 맨 마지막 쿼리에만 한 번 사용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" y="453542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성능이 중요하면 UNION ALL (중복 없다고 확신할 때)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서브쿼리 vs JOIN — 언제 무엇을?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0467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서브쿼리 vs JOIN 비교표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133856"/>
            <a:ext cx="8412480" cy="365760"/>
          </a:xfrm>
          <a:prstGeom prst="rect">
            <a:avLst/>
          </a:prstGeom>
          <a:solidFill>
            <a:srgbClr val="E8EE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13385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관점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84832" y="113385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서브쿼리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93792" y="1133856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JOIN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499616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49961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가독성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84832" y="149961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안에서 밖으로 읽음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93792" y="1499616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왼→오른쪽으로 읽음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865376"/>
            <a:ext cx="8412480" cy="36576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186537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(일반)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084832" y="186537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 (반복 실행 가능)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93792" y="1865376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빠름 (한 번에 처리)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231136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23113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 결과 재사용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84832" y="223113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FROM 서브쿼리 가능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93792" y="2231136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VIEW/CTE 권장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596896"/>
            <a:ext cx="8412480" cy="36576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259689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집계 후 다시 집계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084832" y="259689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FROM 서브쿼리 적합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93792" y="2596896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JOIN + HAVING 가능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962656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296265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존재 여부 확인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084832" y="296265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EXISTS 적합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93792" y="2962656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LEFT JOIN IS NULL 가능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438144"/>
            <a:ext cx="841248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438144"/>
            <a:ext cx="8412480" cy="329184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43814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실전 선택 가이드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2920" y="382219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단순 비교: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240280" y="3822192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price &gt; (SELECT AVG…)  → 서브쿼리가 더 읽기 쉬움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2920" y="4059936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여러 테이블 조합: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240280" y="4059936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고객명 + 주문 정보 → JOIN이 더 적합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2920" y="429768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집계 후 다시 집계: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240280" y="4297680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가게별 매출 → 상위 30% → FROM 서브쿼리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2920" y="453542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존재 여부만 확인: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240280" y="4535424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주문한 적 있는지 → EXISTS가 성능상 유리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따라하기 — 서브쿼리 실전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4160520" cy="1947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04672"/>
            <a:ext cx="416052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04672"/>
            <a:ext cx="4014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평균 이상인 주문 조회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" y="1133856"/>
            <a:ext cx="4050792" cy="1490472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57784" y="1225296"/>
            <a:ext cx="377647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customer_id, total_price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total_price &gt;=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AVG(total_price) FROM orders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total_price DESC LIMIT 10;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81728" y="804672"/>
            <a:ext cx="4096512" cy="1947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804672"/>
            <a:ext cx="4096512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804672"/>
            <a:ext cx="3950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주문 없는 메뉴 (NOT IN)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36592" y="1133856"/>
            <a:ext cx="3986784" cy="1490472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73752" y="1225296"/>
            <a:ext cx="371246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id, menu_name, price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menus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NOT IN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DISTINCT menu_id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orders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542032"/>
            <a:ext cx="41605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542032"/>
            <a:ext cx="416052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542032"/>
            <a:ext cx="4014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5건 이상 가게만 (FROM 서브쿼리)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0624" y="2871216"/>
            <a:ext cx="4050792" cy="19202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7784" y="2962656"/>
            <a:ext cx="37764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restaurant_id,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COUNT(*) AS 주문수,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SUM(total_price) AS 총매출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orders GROUP BY restaurant_id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주문수 &gt;= 5;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81728" y="2542032"/>
            <a:ext cx="4096512" cy="1947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81728" y="2542032"/>
            <a:ext cx="4096512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542032"/>
            <a:ext cx="3950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 각 메뉴: 가격 + 전체평균 + 차이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36592" y="2871216"/>
            <a:ext cx="3986784" cy="1490472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73752" y="2962656"/>
            <a:ext cx="371246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menu_name, price,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(SELECT ROUND(AVG(price))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FROM menus) AS 전체평균,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price-(SELECT ROUND(AVG(price))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FROM menus) AS 차이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menus ORDER BY price DESC LIMIT 8;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연습문제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4114800"/>
          </a:xfrm>
          <a:prstGeom prst="rect">
            <a:avLst/>
          </a:prstGeom>
          <a:solidFill>
            <a:srgbClr val="FAFBFD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9601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96012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menus에서 가격이 전체 최고가인 메뉴명과 가격을 조회하세요.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82753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5448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55448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orders에서 가장 많이 주문된 menu_id를 서브쿼리로 구하세요.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1874520"/>
            <a:ext cx="82753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4884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14884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번도 주문되지 않은 menus를 NOT IN으로 조회하세요.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468880"/>
            <a:ext cx="82753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432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74320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가게별 주문 건수를 구한 후, 그 중 전체 평균 이상인 가게만 출력하세요. (FROM 서브쿼리)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063240"/>
            <a:ext cx="82753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375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33756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주문이 없는 restaurants를 NOT EXISTS로 조회하세요.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657600"/>
            <a:ext cx="82753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319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⭐⭐⭐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93192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주문의 금액과 '해당 가게의 평균 주문금액'을 함께 출력하세요. (스칼라)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590288"/>
            <a:ext cx="8412480" cy="2743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5902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💾  전체 10문제 + 보너스 2문제 → day07-practice.md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2D8B8B">
              <a:alpha val="20000"/>
            </a:srgbClr>
          </a:solidFill>
          <a:ln w="12700">
            <a:solidFill>
              <a:srgbClr val="2D8B8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F5A623">
              <a:alpha val="18000"/>
            </a:srgbClr>
          </a:solidFill>
          <a:ln w="12700">
            <a:solidFill>
              <a:srgbClr val="F5A623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4160520" cy="713232"/>
          </a:xfrm>
          <a:prstGeom prst="rect">
            <a:avLst/>
          </a:prstGeom>
          <a:solidFill>
            <a:srgbClr val="1E2E4A"/>
          </a:solidFill>
          <a:ln w="12700">
            <a:solidFill>
              <a:srgbClr val="2D3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502920"/>
            <a:ext cx="1463040" cy="71323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502920"/>
            <a:ext cx="13898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서브쿼리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20240" y="502920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비교값 동적 계산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502920"/>
            <a:ext cx="4160520" cy="713232"/>
          </a:xfrm>
          <a:prstGeom prst="rect">
            <a:avLst/>
          </a:prstGeom>
          <a:solidFill>
            <a:srgbClr val="1E2E4A"/>
          </a:solidFill>
          <a:ln w="12700">
            <a:solidFill>
              <a:srgbClr val="2D3F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502920"/>
            <a:ext cx="1463040" cy="71323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736" y="502920"/>
            <a:ext cx="13898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단일행 / 다중행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63640" y="502920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· &gt;  vs  IN · ANY · ALL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325880"/>
            <a:ext cx="4160520" cy="713232"/>
          </a:xfrm>
          <a:prstGeom prst="rect">
            <a:avLst/>
          </a:prstGeom>
          <a:solidFill>
            <a:srgbClr val="1E2E4A"/>
          </a:solidFill>
          <a:ln w="12700">
            <a:solidFill>
              <a:srgbClr val="2D3F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325880"/>
            <a:ext cx="1463040" cy="71323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1325880"/>
            <a:ext cx="13898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서브쿼리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1325880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인라인 뷰 · 집계 재분석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1325880"/>
            <a:ext cx="4160520" cy="713232"/>
          </a:xfrm>
          <a:prstGeom prst="rect">
            <a:avLst/>
          </a:prstGeom>
          <a:solidFill>
            <a:srgbClr val="1E2E4A"/>
          </a:solidFill>
          <a:ln w="12700">
            <a:solidFill>
              <a:srgbClr val="2D3F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325880"/>
            <a:ext cx="1463040" cy="71323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45736" y="1325880"/>
            <a:ext cx="13898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스칼라 서브쿼리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1325880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SELECT절 · 단일값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148840"/>
            <a:ext cx="4160520" cy="713232"/>
          </a:xfrm>
          <a:prstGeom prst="rect">
            <a:avLst/>
          </a:prstGeom>
          <a:solidFill>
            <a:srgbClr val="1E2E4A"/>
          </a:solidFill>
          <a:ln w="12700">
            <a:solidFill>
              <a:srgbClr val="2D3F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148840"/>
            <a:ext cx="1463040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2148840"/>
            <a:ext cx="13898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20240" y="2148840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존재 여부 확인 (빠름)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2148840"/>
            <a:ext cx="4160520" cy="713232"/>
          </a:xfrm>
          <a:prstGeom prst="rect">
            <a:avLst/>
          </a:prstGeom>
          <a:solidFill>
            <a:srgbClr val="1E2E4A"/>
          </a:solidFill>
          <a:ln w="12700">
            <a:solidFill>
              <a:srgbClr val="2D3F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2148840"/>
            <a:ext cx="1463040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45736" y="2148840"/>
            <a:ext cx="13898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EXISTS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2148840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없는 것 찾기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2971800"/>
            <a:ext cx="4160520" cy="713232"/>
          </a:xfrm>
          <a:prstGeom prst="rect">
            <a:avLst/>
          </a:prstGeom>
          <a:solidFill>
            <a:srgbClr val="1E2E4A"/>
          </a:solidFill>
          <a:ln w="12700">
            <a:solidFill>
              <a:srgbClr val="2D3F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2971800"/>
            <a:ext cx="1463040" cy="713232"/>
          </a:xfrm>
          <a:prstGeom prst="rect">
            <a:avLst/>
          </a:prstGeom>
          <a:solidFill>
            <a:srgbClr val="5B6EAE"/>
          </a:solidFill>
          <a:ln w="12700">
            <a:solidFill>
              <a:srgbClr val="5B6E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" y="2971800"/>
            <a:ext cx="13898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920240" y="2971800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합치기 · 중복 제거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2971800"/>
            <a:ext cx="4160520" cy="713232"/>
          </a:xfrm>
          <a:prstGeom prst="rect">
            <a:avLst/>
          </a:prstGeom>
          <a:solidFill>
            <a:srgbClr val="1E2E4A"/>
          </a:solidFill>
          <a:ln w="12700">
            <a:solidFill>
              <a:srgbClr val="2D3F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2971800"/>
            <a:ext cx="1463040" cy="713232"/>
          </a:xfrm>
          <a:prstGeom prst="rect">
            <a:avLst/>
          </a:prstGeom>
          <a:solidFill>
            <a:srgbClr val="5B6EAE"/>
          </a:solidFill>
          <a:ln w="12700">
            <a:solidFill>
              <a:srgbClr val="5B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45736" y="2971800"/>
            <a:ext cx="13898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 ALL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63640" y="2971800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합치기 · 중복 포함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3840480"/>
            <a:ext cx="8412480" cy="566928"/>
          </a:xfrm>
          <a:prstGeom prst="rect">
            <a:avLst/>
          </a:prstGeom>
          <a:solidFill>
            <a:srgbClr val="182236"/>
          </a:solidFill>
          <a:ln w="12700">
            <a:solidFill>
              <a:srgbClr val="2D3F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8587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  ▶  Day 8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" y="41148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 · 뷰 · 트랜잭션  —  "쿼리가 느려요 / 에러나면 어떡해요?"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4645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수고하셨습니다! 🎉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7 — 서브쿼리: 쿼리 안의 쿼리</dc:title>
  <dc:subject>PptxGenJS Presentation</dc:subject>
  <dc:creator>PptxGenJS</dc:creator>
  <cp:lastModifiedBy>PptxGenJS</cp:lastModifiedBy>
  <cp:revision>1</cp:revision>
  <dcterms:created xsi:type="dcterms:W3CDTF">2026-04-28T22:58:12Z</dcterms:created>
  <dcterms:modified xsi:type="dcterms:W3CDTF">2026-04-28T22:58:12Z</dcterms:modified>
</cp:coreProperties>
</file>