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548640"/>
            <a:ext cx="3657600" cy="36576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D8B8B">
              <a:alpha val="22000"/>
            </a:srgbClr>
          </a:solidFill>
          <a:ln w="12700">
            <a:solidFill>
              <a:srgbClr val="2D8B8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91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요약의 기술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 &amp; 집계함수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"전체 매출이 얼마야? 가게별로는? 월별로는?"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것들 — GROUP BY &amp; 집계함수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987552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 테이블 등장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20700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새 테이블 스키마 · 50건 데이터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868680"/>
            <a:ext cx="365760" cy="6583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64208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783080"/>
            <a:ext cx="420624" cy="42062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709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집계함수 5종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0025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· SUM · AVG · MAX · MIN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412480" y="1664208"/>
            <a:ext cx="36576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4597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578608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57860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5054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27980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학교 전체 평균 vs 반별 평균 — 그룹핑의 핵심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459736"/>
            <a:ext cx="365760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37413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3741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3009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59359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WHERE는 개인 필터 · HAVING은 그룹 필터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412480" y="3255264"/>
            <a:ext cx="36576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5079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2920" y="4169664"/>
            <a:ext cx="420624" cy="420624"/>
          </a:xfrm>
          <a:prstGeom prst="ellipse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0965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조합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8912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날짜 + GROUP BY · 다중 그룹핑 · 쿼리 실행 순서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412480" y="4050792"/>
            <a:ext cx="365760" cy="658368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4 복습 퀴즈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411480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10분  |  Day 4 내장 함수 점검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 CONCAT('안녕', ' ', '세상') 의 결과는?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0" y="1298448"/>
            <a:ext cx="182880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298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'안녕 세상'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93852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 LENGTH('한글') 와 CHAR_LENGTH('한글') 의 값 차이는?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75120" y="1956816"/>
            <a:ext cx="182880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LENGTH=6(바이트), CHAR_LENGTH=2(문자)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9689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 ROUND(4.567, 1) 의 결과는?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75120" y="2615184"/>
            <a:ext cx="182880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6151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4.6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2552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Q4.  DATE_FORMAT(NOW(), '%Y년 %m월') 의 역할은?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3273552"/>
            <a:ext cx="182880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3273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현재 날짜를 '2025년 01월' 형식으로 변환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39136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Q5.  NULL값을 '정보없음' 으로 바꾸는 함수는?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3931920"/>
            <a:ext cx="1828800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IFNULL(컬럼, '정보없음')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테이블 등장 — orders 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1069848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1069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5 신규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4206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115568"/>
            <a:ext cx="420624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15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 테이블 구조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1536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AI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91640" y="1536192"/>
            <a:ext cx="1463040" cy="2377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91640" y="1536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PK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15361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고유 번호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179222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91640" y="1792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 NULL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1792224"/>
            <a:ext cx="1463040" cy="2377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91640" y="17922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 NULL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1792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고객?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0482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restaurant_id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91640" y="2048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 NULL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1640" y="2048256"/>
            <a:ext cx="1463040" cy="2377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20482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 NULL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20482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가게?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30428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menu_id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91640" y="2304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 NULL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91640" y="2304288"/>
            <a:ext cx="1463040" cy="2377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91640" y="23042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 NULL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23042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메뉴?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2560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691640" y="25603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DEFAULT 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91640" y="2560320"/>
            <a:ext cx="1463040" cy="2377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1640" y="25603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DEFAULT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25603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8163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91640" y="28163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 NULL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691640" y="2816352"/>
            <a:ext cx="1463040" cy="2377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91640" y="28163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NOT NULL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28163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금액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0723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order_date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91640" y="3072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691640" y="3072384"/>
            <a:ext cx="1463040" cy="2377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91640" y="3072384"/>
            <a:ext cx="1463040" cy="23774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0" y="30723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일시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33284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delivery_fee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691640" y="33284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DEFAULT 3000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691640" y="3328416"/>
            <a:ext cx="1463040" cy="237744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91640" y="3328416"/>
            <a:ext cx="1463040" cy="237744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DEFAULT 3000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3328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배달비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00600" y="1115568"/>
            <a:ext cx="3977640" cy="2834640"/>
          </a:xfrm>
          <a:prstGeom prst="rect">
            <a:avLst/>
          </a:prstGeom>
          <a:solidFill>
            <a:srgbClr val="FFFDF5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11155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테이블 관계도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937760" y="15544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 ──┐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├── orders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restaurants ─┤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menus ────────┘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800600" y="3218688"/>
            <a:ext cx="397764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321868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orders 테이블이 있어야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GROUP BY가 의미 있어집니다!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40233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 LIMIT 5;  ← 먼저 데이터 확인!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집계함수 5종 — COUNT · SUM · AVG · MAX · MIN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416052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188720"/>
            <a:ext cx="3941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행 수 (NULL 포함)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417320"/>
            <a:ext cx="3941064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4173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orders;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38728" y="1417320"/>
            <a:ext cx="877824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4173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50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38728" y="14173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38728" y="14173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50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148840"/>
            <a:ext cx="41605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4884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SUM(col)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2514600"/>
            <a:ext cx="3941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" y="2743200"/>
            <a:ext cx="3941064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743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SUM(total_price) FROM orders;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38728" y="2743200"/>
            <a:ext cx="877824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27432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547,000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38728" y="27432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38728" y="27432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547,000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47472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474720"/>
            <a:ext cx="4160520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747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AVG(col)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" y="3840480"/>
            <a:ext cx="3941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" y="4069080"/>
            <a:ext cx="3941064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0690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ROUND(AVG(total_price)) FROM orders;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38728" y="4069080"/>
            <a:ext cx="877824" cy="25603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38728" y="406908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10,940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38728" y="406908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38728" y="406908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10,940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82296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822960"/>
            <a:ext cx="416052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82296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MAX(col)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18888" y="1188720"/>
            <a:ext cx="3941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최댓값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18888" y="1417320"/>
            <a:ext cx="3941064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14173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MAX(total_price) FROM orders;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82128" y="1417320"/>
            <a:ext cx="87782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82128" y="14173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45,000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882128" y="14173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882128" y="141732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45,000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2148840"/>
            <a:ext cx="41605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148840"/>
            <a:ext cx="4160520" cy="329184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214884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MIN(col)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18888" y="2514600"/>
            <a:ext cx="3941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최솟값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18888" y="2743200"/>
            <a:ext cx="3941064" cy="256032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18888" y="2743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MIN(total_price) FROM orders;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882128" y="2743200"/>
            <a:ext cx="877824" cy="256032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82128" y="27432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4,500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82128" y="27432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82128" y="2743200"/>
            <a:ext cx="877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4,500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9160" y="3977640"/>
            <a:ext cx="4160520" cy="841248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800600" y="40142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COUNT(*) vs COUNT(컬럼)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00600" y="4270248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COUNT(*): NULL 포함 전체 행 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COUNT(email): NULL 제외, email 있는 행만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 — 그룹별 집계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🏫  비유: 학교 전체 평균(SELECT AVG) vs 반별 평균(GROUP BY 반)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607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 없음 = 전체 하나의 그룹  |  GROUP BY = 기준 컬럼별 그룹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411480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581912"/>
            <a:ext cx="384048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GROUP BY 없음: 전체 집계 1행만 반환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SUM(total_price) AS 총매출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결과: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+----------+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| 총매출   |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+----------+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| 547000   |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14800" cy="19202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581912"/>
            <a:ext cx="384048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GROUP BY: 가게별 집계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restaurant_id,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SUM(total_price) AS 가게별매출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가게별매출 DESC;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결과: 9행 (주문 있는 가게만)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8412480" cy="68580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5570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GROUP BY의 황금 규칙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1304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SELECT에는 ① 집계함수  또는  ② GROUP BY에 명시된 컬럼만 사용 가능!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restaurant_id, name, COUNT(*) ← name이 GROUP BY에 없으면 에러!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 — 그룹 필터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 vs HAVING 비교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124712"/>
            <a:ext cx="8412480" cy="246888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2471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112471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0" y="112471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37160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대상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137160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행(row)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52160" y="1371600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그룹(group)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618488"/>
            <a:ext cx="8412480" cy="246888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61848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시점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17520" y="161848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 이전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1618488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GROUP BY 이후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1865376"/>
            <a:ext cx="841248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186537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집계함수 사용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017520" y="186537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52160" y="1865376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가능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267712"/>
            <a:ext cx="411480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2340864"/>
            <a:ext cx="384048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WHERE: 그룹 전 개별 필터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restaurant_id, COUNT(*) AS 주문수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'배달완료'   -- 개별 행 필터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restaurant_id;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267712"/>
            <a:ext cx="411480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00600" y="2340864"/>
            <a:ext cx="384048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HAVING: 그룹 후 조건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restaurant_id, COUNT(*) AS 주문수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주문수 &gt;= 5;   -- 그룹 필터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593592"/>
            <a:ext cx="8412480" cy="658368"/>
          </a:xfrm>
          <a:prstGeom prst="rect">
            <a:avLst/>
          </a:prstGeom>
          <a:solidFill>
            <a:srgbClr val="FFF1F1"/>
          </a:solidFill>
          <a:ln w="12700">
            <a:solidFill>
              <a:srgbClr val="CC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02920" y="363016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 흔한 실수: WHERE에 집계함수 사용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8679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COUNT(*) &gt;= 5  →  ERROR 1111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집계함수는 반드시 HAVING 절에!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6301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판단 기준: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'집계 전 걸러야 해?' → WHERE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'그룹 만든 후 걸러야 해?' → HAVING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+ GROUP BY — 월별 매출 분석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754380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7543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필수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78992"/>
            <a:ext cx="5120640" cy="21945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152144"/>
            <a:ext cx="484632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월별 주문 수 + 매출 집계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DATE_FORMAT(order_date, '%Y-%m') AS 월,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                         AS 주문수,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SUM(total_price)                  AS 총매출,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ROUND(AVG(total_price))           AS 평균주문금액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월;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078992"/>
            <a:ext cx="3108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078992"/>
            <a:ext cx="3108960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0789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1426464"/>
            <a:ext cx="3108960" cy="256032"/>
          </a:xfrm>
          <a:prstGeom prst="rect">
            <a:avLst/>
          </a:prstGeom>
          <a:solidFill>
            <a:srgbClr val="E8EEF8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142646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19672" y="14264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주문수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59752" y="14264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총매출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4152" y="1426464"/>
            <a:ext cx="667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평균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0" y="1682496"/>
            <a:ext cx="3108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68249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2024-11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19672" y="16824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59752" y="16824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165,500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74152" y="1682496"/>
            <a:ext cx="667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10,344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669280" y="1938528"/>
            <a:ext cx="3108960" cy="256032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93852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2024-12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9672" y="19385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59752" y="19385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218,000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74152" y="1938528"/>
            <a:ext cx="667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10,381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69280" y="2194560"/>
            <a:ext cx="3108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21945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19672" y="21945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9752" y="21945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163,500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74152" y="2194560"/>
            <a:ext cx="667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12,577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401568"/>
            <a:ext cx="8412480" cy="14173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474720"/>
            <a:ext cx="8138160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월 + 가게별 다중 그룹핑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DATE_FORMAT(order_date,'%Y-%m') AS 월,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restaurant_id,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주문수,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SUM(total_price) AS 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월, 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월, 매출 DESC;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SELECT 쿼리 실행 순서 — 7단계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10789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1078992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" y="1737360"/>
            <a:ext cx="969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테이블에서?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444752" y="192024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72768" y="822960"/>
            <a:ext cx="10789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572768" y="822960"/>
            <a:ext cx="1078992" cy="34747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72768" y="822960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72768" y="120700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27632" y="1737360"/>
            <a:ext cx="969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행 필터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192024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79776" y="822960"/>
            <a:ext cx="10789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79776" y="822960"/>
            <a:ext cx="1078992" cy="34747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9776" y="822960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79776" y="120700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834640" y="1737360"/>
            <a:ext cx="969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묶기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58768" y="192024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86784" y="822960"/>
            <a:ext cx="10789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86784" y="822960"/>
            <a:ext cx="1078992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86784" y="822960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86784" y="120700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041648" y="1737360"/>
            <a:ext cx="969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필터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65776" y="192024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93792" y="822960"/>
            <a:ext cx="10789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193792" y="822960"/>
            <a:ext cx="1078992" cy="347472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822960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93792" y="120700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48656" y="1737360"/>
            <a:ext cx="969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컬럼/집계 선택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72784" y="192024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0" y="822960"/>
            <a:ext cx="10789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00800" y="822960"/>
            <a:ext cx="1078992" cy="347472"/>
          </a:xfrm>
          <a:prstGeom prst="rect">
            <a:avLst/>
          </a:prstGeom>
          <a:solidFill>
            <a:srgbClr val="5B6EAE"/>
          </a:solidFill>
          <a:ln w="12700">
            <a:solidFill>
              <a:srgbClr val="5B6E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822960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120700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55664" y="1737360"/>
            <a:ext cx="969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79792" y="1920240"/>
            <a:ext cx="1280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07808" y="822960"/>
            <a:ext cx="107899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607808" y="822960"/>
            <a:ext cx="1078992" cy="34747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07808" y="822960"/>
            <a:ext cx="1078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607808" y="120700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662672" y="1737360"/>
            <a:ext cx="969264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수 제한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3858768"/>
            <a:ext cx="8412480" cy="685800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48640" y="38953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🔑  기억법: 「 프웨그해셀오리 」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41513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8B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→ WHERE → GROUP BY → HAVING → SELECT → ORDER BY → LIMIT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사장님의 질문에 답하기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868680"/>
            <a:ext cx="2226564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68680"/>
            <a:ext cx="22265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총 주문 건수와 전체 매출은?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1188720"/>
            <a:ext cx="4005072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344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총주문수, SUM(total_price) AS 총매출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2221992"/>
            <a:ext cx="28575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221992"/>
            <a:ext cx="28575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가게별 주문 수, 매출 랭킹 (많은 순)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" y="2542032"/>
            <a:ext cx="4005072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8775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restaurant_id, COUNT(*) AS 주문수,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SUM(total_price) AS 총매출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restaurant_id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총매출 DESC;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511296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3575304"/>
            <a:ext cx="2016252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575304"/>
            <a:ext cx="20162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주문이 5건 이상인 가게만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3895344"/>
            <a:ext cx="4005072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41064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restaurant_id, COUNT(*) AS 주문수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restaurant_id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주문수 &gt;= 5;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804672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868680"/>
            <a:ext cx="23317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868680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월별 주문 트렌드 (최근 3달)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4005072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23444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DATE_FORMAT(order_date,'%Y-%m') AS 월,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주문수, SUM(total_price) AS 매출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월 ORDER BY 월;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81728" y="2157984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221992"/>
            <a:ext cx="2016252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221992"/>
            <a:ext cx="20162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고객별 총 지출 TOP 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542032"/>
            <a:ext cx="4005072" cy="74980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258775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customer_id, COUNT(*) AS 주문횟수,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SUM(total_price) AS 총지출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customer_id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총지출 DESC LIMIT 3;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연습문제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06908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 테이블에서 배달비(delivery_fee)의 최대, 최소, 평균을 구하세요.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261872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276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1627632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고객(customer_id)별 주문 횟수와 총 지출금액을 구하고, 총 지출 내림차순으로 정렬하세요.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975104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340864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건수가 3건 이상이고 평균 주문금액이 10,000원 이상인 가게(restaurant_id)를 조회하세요.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5409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054096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주문 건수를 조회하되, 주문이 가장 많았던 달을 첫 번째 행으로 출력하세요.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401568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6732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767328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가게별 총매출을 구한 후, 총매출이 전체 평균 이상인 가게만 출력하세요. (HAVING + AVG 활용)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8412480" cy="29260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4988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 자세한 문제 + 정답은 day05-practice.md 파일을 확인하세요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 정리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1371600" cy="7772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22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822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행 수 (NULL 포함)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1371600" cy="7772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COUNT(col)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1737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NULL 제외 행 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51760"/>
            <a:ext cx="13716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517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/ AVG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26517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합계 / 평균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566160"/>
            <a:ext cx="13716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661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/ MIN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28800" y="35661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최대값 / 최소값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8229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822960"/>
            <a:ext cx="1371600" cy="777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8229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8229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그룹별 집계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7373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737360"/>
            <a:ext cx="137160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7373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17373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필터 (집계 후)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6517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651760"/>
            <a:ext cx="1371600" cy="777240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6517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DATE_FORMAT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72200" y="26517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→ 문자 포맷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3566160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566160"/>
            <a:ext cx="1371600" cy="777240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56616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실행 순서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72200" y="356616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FROM→WHERE→GROUP BY→HAVING→SELECT→ORDER BY→LIMIT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D8B8B">
              <a:alpha val="20000"/>
            </a:srgbClr>
          </a:solidFill>
          <a:ln w="12700">
            <a:solidFill>
              <a:srgbClr val="2D8B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48640" y="1993392"/>
            <a:ext cx="54864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JOIN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흩어진 퍼즐 맞추기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77240" y="338328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"restaurant_id 말고 가게 이름으로 보고 싶어요!"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05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· LEFT JOIN · RIGHT JOIN · JOIN + GROUP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수고하셨습니다! 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데이터 요약의 기술: 집계함수 &amp; GROUP BY</dc:title>
  <dc:subject>PptxGenJS Presentation</dc:subject>
  <dc:creator>PptxGenJS</dc:creator>
  <cp:lastModifiedBy>PptxGenJS</cp:lastModifiedBy>
  <cp:revision>1</cp:revision>
  <dcterms:created xsi:type="dcterms:W3CDTF">2026-04-21T15:12:22Z</dcterms:created>
  <dcterms:modified xsi:type="dcterms:W3CDTF">2026-04-21T15:12:22Z</dcterms:modified>
</cp:coreProperties>
</file>